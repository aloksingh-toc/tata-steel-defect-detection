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38BDF8"/>
                </a:solidFill>
                <a:latin typeface="Segoe UI"/>
              </a:rPr>
              <a:t>Defect Detection in Hot Rolling</a:t>
            </a:r>
          </a:p>
          <a:p>
            <a:pPr algn="l">
              <a:spcAft>
                <a:spcPts val="400"/>
              </a:spcAft>
            </a:pPr>
            <a:r>
              <a:rPr sz="2400" b="0">
                <a:solidFill>
                  <a:srgbClr val="E2E8F0"/>
                </a:solidFill>
                <a:latin typeface="Segoe UI"/>
              </a:rPr>
              <a:t>Predicting the Alpha defect in steel coils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02336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Tata Steel AI Hackathon  ·  HackerEarth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Binary Classification  |  Severe Class Imbalance (19.5 : 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Segoe UI"/>
              </a:rPr>
              <a:t>•  Alpha defects cannot be detected inline — the coil is under tension in inspection zones.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Segoe UI"/>
              </a:rPr>
              <a:t>•  Current quality control relies on sampling only a fraction of coils at the final stage.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E2E8F0"/>
                </a:solidFill>
                <a:latin typeface="Segoe UI"/>
              </a:rPr>
              <a:t>•  Although rare, the defect drives customer complaints and product downgrades.</a:t>
            </a:r>
          </a:p>
          <a:p>
            <a:pPr algn="l">
              <a:spcAft>
                <a:spcPts val="1200"/>
              </a:spcAft>
            </a:pPr>
            <a:r>
              <a:rPr sz="1900" b="0">
                <a:solidFill>
                  <a:srgbClr val="4ADE80"/>
                </a:solidFill>
                <a:latin typeface="Segoe UI"/>
              </a:rPr>
              <a:t>•  Goal: detect the defect during rolling, using process parameters from every stage.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Segoe UI"/>
              </a:rPr>
              <a:t>Data:  1,352 train coils  ·  339 test coils  ·  49 process features (X1–X49)</a:t>
            </a: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FBBF24"/>
                </a:solidFill>
                <a:latin typeface="Segoe UI"/>
              </a:rPr>
              <a:t>Target:  Y = 1 (Defect)  vs  Y = 0 (No Defect)   —   only 66 defects in training (4.9%)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Segoe UI"/>
              </a:rPr>
              <a:t>Evaluation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 b="1">
                <a:solidFill>
                  <a:srgbClr val="4ADE80"/>
                </a:solidFill>
                <a:latin typeface="Segoe UI"/>
              </a:rPr>
              <a:t>Recall = 100 %     →   zero missed defects (no false negatives)</a:t>
            </a:r>
          </a:p>
          <a:p>
            <a:pPr algn="l">
              <a:spcAft>
                <a:spcPts val="1400"/>
              </a:spcAft>
            </a:pPr>
            <a:r>
              <a:rPr sz="2200" b="1">
                <a:solidFill>
                  <a:srgbClr val="FBBF24"/>
                </a:solidFill>
                <a:latin typeface="Segoe UI"/>
              </a:rPr>
              <a:t>Precision &gt; 90 %   →   at most ~7 false alarms allowed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576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This is an extreme requirement for a 19.5 : 1 imbalanced problem: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•  To allow 100% recall with &gt;90% precision, the model may emit ≤ 7 false positives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•  → a false-positive rate ≤ 0.54%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94A3B8"/>
                </a:solidFill>
                <a:latin typeface="Segoe UI"/>
              </a:rPr>
              <a:t>•  → which mathematically demands a model AUC ≈ 0.997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Segoe UI"/>
              </a:rPr>
              <a:t>Our Approach — End-to-End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38BDF8"/>
                </a:solidFill>
                <a:latin typeface="Segoe UI"/>
              </a:rPr>
              <a:t>1.  Feature Engineering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49 → 68 features: log transforms, ratios, row-wise stats, interactions, missingness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3774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4ADE80"/>
                </a:solidFill>
                <a:latin typeface="Segoe UI"/>
              </a:rPr>
              <a:t>2.  Preprocessing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IterativeImputer (multivariate) → StandardScaler, persisted to disk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BBF24"/>
                </a:solidFill>
                <a:latin typeface="Segoe UI"/>
              </a:rPr>
              <a:t>3.  Imbalance Handling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scale_pos_weight (LGB/XGB) + class_weight='balanced' (RF/ET)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38BDF8"/>
                </a:solidFill>
                <a:latin typeface="Segoe UI"/>
              </a:rPr>
              <a:t>4.  Modelling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LightGBM (Optuna-tuned) + XGBoost + Random Forest + Extra Trees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4ADE80"/>
                </a:solidFill>
                <a:latin typeface="Segoe UI"/>
              </a:rPr>
              <a:t>5.  Ensemble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Equal-weight blend of 4 models, 5-fold stratified 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BBF24"/>
                </a:solidFill>
                <a:latin typeface="Segoe UI"/>
              </a:rPr>
              <a:t>6.  Threshold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E2E8F0"/>
                </a:solidFill>
                <a:latin typeface="Segoe UI"/>
              </a:rPr>
              <a:t>Set to min OOF probability of any defect → guarantees Recall =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Segoe UI"/>
              </a:rPr>
              <a:t>Results (5-Fold Out-of-Fold)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E2E8F0"/>
                </a:solidFill>
                <a:latin typeface="Consolas"/>
              </a:rPr>
              <a:t>Model                       </a:t>
            </a:r>
            <a:r>
              <a:rPr sz="1800" b="1">
                <a:solidFill>
                  <a:srgbClr val="E2E8F0"/>
                </a:solidFill>
                <a:latin typeface="Consolas"/>
              </a:rPr>
              <a:t>ROC-AUC     </a:t>
            </a:r>
            <a:r>
              <a:rPr sz="1800" b="1">
                <a:solidFill>
                  <a:srgbClr val="E2E8F0"/>
                </a:solidFill>
                <a:latin typeface="Consolas"/>
              </a:rPr>
              <a:t>PR-AUC     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488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Consolas"/>
              </a:rPr>
              <a:t>LightGBM (Optuna-tuned)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0.8550 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0.3657     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Consolas"/>
              </a:rPr>
              <a:t>XGBoost                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0.8553 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0.3385    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Consolas"/>
              </a:rPr>
              <a:t>Random Forest          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0.8551 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0.2868    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94A3B8"/>
                </a:solidFill>
                <a:latin typeface="Consolas"/>
              </a:rPr>
              <a:t>Extra Trees            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0.8575      </a:t>
            </a:r>
            <a:r>
              <a:rPr sz="1800" b="0">
                <a:solidFill>
                  <a:srgbClr val="94A3B8"/>
                </a:solidFill>
                <a:latin typeface="Consolas"/>
              </a:rPr>
              <a:t>0.2921    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ADE80"/>
                </a:solidFill>
                <a:latin typeface="Consolas"/>
              </a:rPr>
              <a:t>Blend  (final)              </a:t>
            </a:r>
            <a:r>
              <a:rPr sz="1800" b="1">
                <a:solidFill>
                  <a:srgbClr val="4ADE80"/>
                </a:solidFill>
                <a:latin typeface="Consolas"/>
              </a:rPr>
              <a:t>0.8653      </a:t>
            </a:r>
            <a:r>
              <a:rPr sz="1800" b="1">
                <a:solidFill>
                  <a:srgbClr val="4ADE80"/>
                </a:solidFill>
                <a:latin typeface="Consolas"/>
              </a:rPr>
              <a:t>0.3660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94A3B8"/>
                </a:solidFill>
                <a:latin typeface="Segoe UI"/>
              </a:rPr>
              <a:t>Validated against One-Class SVM, Isolation Forest, KNN, Mahalanobis, CatBoost, MLP, stacking — blend was best.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Segoe UI"/>
              </a:rPr>
              <a:t>Achieved vs Target — Honest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6070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>
                <a:solidFill>
                  <a:srgbClr val="4ADE80"/>
                </a:solidFill>
                <a:latin typeface="Segoe UI"/>
              </a:rPr>
              <a:t>Recall = 100%   ✓  ACHIEVED  (all 66 defects caught)</a:t>
            </a:r>
          </a:p>
          <a:p>
            <a:pPr algn="l">
              <a:spcAft>
                <a:spcPts val="1200"/>
              </a:spcAft>
            </a:pPr>
            <a:r>
              <a:rPr sz="2000" b="1">
                <a:solidFill>
                  <a:srgbClr val="F87171"/>
                </a:solidFill>
                <a:latin typeface="Segoe UI"/>
              </a:rPr>
              <a:t>Precision @ Recall=100%  =  6%   ✗  (target &gt; 90%)</a:t>
            </a:r>
          </a:p>
          <a:p>
            <a:pPr algn="l">
              <a:spcAft>
                <a:spcPts val="600"/>
              </a:spcAft>
            </a:pPr>
            <a:r>
              <a:rPr sz="2000" b="1">
                <a:solidFill>
                  <a:srgbClr val="F87171"/>
                </a:solidFill>
                <a:latin typeface="Segoe UI"/>
              </a:rPr>
              <a:t>Recall @ Precision=90%   =  1.5%  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FBBF24"/>
                </a:solidFill>
                <a:latin typeface="Segoe UI"/>
              </a:rPr>
              <a:t>Why the precision target is a DATA ceiling, not a modelling gap: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 The 10 hardest defects score &lt; 0.10 probability — statistically indistinguishable from normal coils across all 68 features.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2E8F0"/>
                </a:solidFill>
                <a:latin typeface="Segoe UI"/>
              </a:rPr>
              <a:t>•  Only 66 defect examples is far too few to learn a 0.54%-FPR boundary.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4ADE80"/>
                </a:solidFill>
                <a:latin typeface="Segoe UI"/>
              </a:rPr>
              <a:t>•  Reaching 90% precision needs: more labelled defects, domain features, or raw sensor time-series.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8BDF8"/>
                </a:solidFill>
                <a:latin typeface="Segoe UI"/>
              </a:rPr>
              <a:t>Deliverables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607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4ADE80"/>
                </a:solidFill>
                <a:latin typeface="Segoe UI"/>
              </a:rPr>
              <a:t>•  expected_submission.csv  —  prediction file (339 × 2, verified format)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defect_detection.ipynb  —  full EDA + modelling notebook (executes end-to-end)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src/  —  modular pipeline: config, features, preprocess, model, evaluate, predict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run.py  —  single command reproduces the submission:  python run.py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E2E8F0"/>
                </a:solidFill>
                <a:latin typeface="Segoe UI"/>
              </a:rPr>
              <a:t>•  README.md + APPROACH.md  —  methodology, feature engineering, tools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94A3B8"/>
                </a:solidFill>
                <a:latin typeface="Segoe UI"/>
              </a:rPr>
              <a:t>•  Tools:  Python · pandas · scikit-learn · LightGBM · XGBoost · Optuna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